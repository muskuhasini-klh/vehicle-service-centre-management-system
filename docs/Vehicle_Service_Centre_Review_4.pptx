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D4BF"/>
                </a:solidFill>
              </a:defRPr>
            </a:pPr>
            <a:r>
              <a:t>PROJECT-BASED LEARNING – REVIEW 4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Vehicle Service Centre Management System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Final Results, Functional Working Demonstration &amp; Performance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10362895" cy="2560320"/>
          </a:xfrm>
          <a:prstGeom prst="roundRect">
            <a:avLst/>
          </a:prstGeom>
          <a:solidFill>
            <a:srgbClr val="134E42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657600"/>
            <a:ext cx="9784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D4BF"/>
                </a:solidFill>
              </a:defRPr>
            </a:pPr>
            <a:r>
              <a:t>Project Team Members: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M. Vedasri Reddy (2510030094)           • M. Hasini (2510030098)</a:t>
            </a:r>
            <a:br/>
            <a:r>
              <a:t>• G. Rishitha (2510030100)               • M. Niharika Reddy (2510030141)</a:t>
            </a:r>
          </a:p>
          <a:p>
            <a:br/>
            <a:pPr>
              <a:defRPr sz="1400" b="1">
                <a:solidFill>
                  <a:srgbClr val="2DD4BF"/>
                </a:solidFill>
              </a:defRPr>
            </a:pPr>
            <a:r>
              <a:t>Faculty Mentor: Rafeeq Mohammed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Department: Department of Computer Science &amp; Engineering | Academic Year: 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PBL REVIEW 4 - RESULTS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Slide 2 – Project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841248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36192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3830"/>
                </a:solidFill>
              </a:defRPr>
            </a:pPr>
            <a:r>
              <a:t>1. Digitize End-to-End Operations</a:t>
            </a:r>
          </a:p>
          <a:p>
            <a:pPr>
              <a:defRPr sz="1200">
                <a:solidFill>
                  <a:srgbClr val="132420"/>
                </a:solidFill>
              </a:defRPr>
            </a:pPr>
            <a:r>
              <a:t>Eliminate traditional manual paper logs with a centralized, relational database management system for all service center tasks.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50592"/>
            <a:ext cx="10728655" cy="841248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23744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3830"/>
                </a:solidFill>
              </a:defRPr>
            </a:pPr>
            <a:r>
              <a:t>2. Appointment &amp; Schedule Automation</a:t>
            </a:r>
          </a:p>
          <a:p>
            <a:pPr>
              <a:defRPr sz="1200">
                <a:solidFill>
                  <a:srgbClr val="132420"/>
                </a:solidFill>
              </a:defRPr>
            </a:pPr>
            <a:r>
              <a:t>Enable seamless booking, status tracking, and mechanic allocation to eliminate customer wait times and scheduling conflicts.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38144"/>
            <a:ext cx="10728655" cy="841248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11296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3830"/>
                </a:solidFill>
              </a:defRPr>
            </a:pPr>
            <a:r>
              <a:t>3. Dynamic Job &amp; Service Tracking</a:t>
            </a:r>
          </a:p>
          <a:p>
            <a:pPr>
              <a:defRPr sz="1200">
                <a:solidFill>
                  <a:srgbClr val="132420"/>
                </a:solidFill>
              </a:defRPr>
            </a:pPr>
            <a:r>
              <a:t>Provide real-time visibility into repair progress across four structured stages: Inspection, In-Progress, Pending Parts, and Completed.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25696"/>
            <a:ext cx="10728655" cy="841248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9884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3830"/>
                </a:solidFill>
              </a:defRPr>
            </a:pPr>
            <a:r>
              <a:t>4. Automated Spare Parts Inventory</a:t>
            </a:r>
          </a:p>
          <a:p>
            <a:pPr>
              <a:defRPr sz="1200">
                <a:solidFill>
                  <a:srgbClr val="132420"/>
                </a:solidFill>
              </a:defRPr>
            </a:pPr>
            <a:r>
              <a:t>Maintain real-time component counts, track unit pricing, and trigger automated low-stock warnings when inventory hits reorder thresholds.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13248"/>
            <a:ext cx="10728655" cy="841248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48640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3830"/>
                </a:solidFill>
              </a:defRPr>
            </a:pPr>
            <a:r>
              <a:t>5. Accurate Billing &amp; Tax Invoicing</a:t>
            </a:r>
          </a:p>
          <a:p>
            <a:pPr>
              <a:defRPr sz="1200">
                <a:solidFill>
                  <a:srgbClr val="132420"/>
                </a:solidFill>
              </a:defRPr>
            </a:pPr>
            <a:r>
              <a:t>Auto-generate transparent itemized invoices summing spare parts, labor charges, and GST with instant receipt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PBL REVIEW 4 - RESULTS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Slide 3 – Project Development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011680" cy="3657600"/>
          </a:xfrm>
          <a:prstGeom prst="roundRect">
            <a:avLst/>
          </a:prstGeom>
          <a:solidFill>
            <a:srgbClr val="134E42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1737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</a:defRPr>
            </a:pPr>
            <a:r>
              <a:t>Step 01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Phase 1: Analysis</a:t>
            </a:r>
          </a:p>
          <a:p>
            <a:br/>
            <a:pPr>
              <a:defRPr sz="1100">
                <a:solidFill>
                  <a:srgbClr val="E2E8F0"/>
                </a:solidFill>
              </a:defRPr>
            </a:pPr>
            <a:r>
              <a:t>Problem identification, domain research, and operational requirement gathering.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011680"/>
            <a:ext cx="2011680" cy="3657600"/>
          </a:xfrm>
          <a:prstGeom prst="roundRect">
            <a:avLst/>
          </a:prstGeom>
          <a:solidFill>
            <a:srgbClr val="0F766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194560"/>
            <a:ext cx="1737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</a:defRPr>
            </a:pPr>
            <a:r>
              <a:t>Step 02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Phase 2: DB Design</a:t>
            </a:r>
          </a:p>
          <a:p>
            <a:br/>
            <a:pPr>
              <a:defRPr sz="1100">
                <a:solidFill>
                  <a:srgbClr val="E2E8F0"/>
                </a:solidFill>
              </a:defRPr>
            </a:pPr>
            <a:r>
              <a:t>9-table relational schema, primary/foreign keys, ER modeling, and constraints.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011680"/>
            <a:ext cx="2011680" cy="3657600"/>
          </a:xfrm>
          <a:prstGeom prst="roundRect">
            <a:avLst/>
          </a:prstGeom>
          <a:solidFill>
            <a:srgbClr val="134E42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2194560"/>
            <a:ext cx="1737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</a:defRPr>
            </a:pPr>
            <a:r>
              <a:t>Step 03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Phase 3: Backend API</a:t>
            </a:r>
          </a:p>
          <a:p>
            <a:br/>
            <a:pPr>
              <a:defRPr sz="1100">
                <a:solidFill>
                  <a:srgbClr val="E2E8F0"/>
                </a:solidFill>
              </a:defRPr>
            </a:pPr>
            <a:r>
              <a:t>FastAPI async REST endpoints, Pydantic validation, and SQLAlchemy ORM.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199" y="2011680"/>
            <a:ext cx="2011680" cy="3657600"/>
          </a:xfrm>
          <a:prstGeom prst="roundRect">
            <a:avLst/>
          </a:prstGeom>
          <a:solidFill>
            <a:srgbClr val="0F766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59" y="2194560"/>
            <a:ext cx="1737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</a:defRPr>
            </a:pPr>
            <a:r>
              <a:t>Step 04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Phase 4: Frontend UI</a:t>
            </a:r>
          </a:p>
          <a:p>
            <a:br/>
            <a:pPr>
              <a:defRPr sz="1100">
                <a:solidFill>
                  <a:srgbClr val="E2E8F0"/>
                </a:solidFill>
              </a:defRPr>
            </a:pPr>
            <a:r>
              <a:t>Responsive single-page web dashboard, modal forms, and invoice printing.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2011680"/>
            <a:ext cx="2011680" cy="3657600"/>
          </a:xfrm>
          <a:prstGeom prst="roundRect">
            <a:avLst/>
          </a:prstGeom>
          <a:solidFill>
            <a:srgbClr val="134E42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2194560"/>
            <a:ext cx="1737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</a:defRPr>
            </a:pPr>
            <a:r>
              <a:t>Step 05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Phase 5: Testing &amp; QA</a:t>
            </a:r>
          </a:p>
          <a:p>
            <a:br/>
            <a:pPr>
              <a:defRPr sz="1100">
                <a:solidFill>
                  <a:srgbClr val="E2E8F0"/>
                </a:solidFill>
              </a:defRPr>
            </a:pPr>
            <a:r>
              <a:t>Automated test suite (11 test cases), latency benchmarking,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PBL REVIEW 4 - RESULTS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Slide 4 – Project Implementation Technologies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3830"/>
                </a:solidFill>
              </a:defRPr>
            </a:pPr>
            <a:r>
              <a:t>• Frontend Layer: </a:t>
            </a:r>
            <a:r>
              <a:rPr b="1">
                <a:solidFill>
                  <a:srgbClr val="0D9488"/>
                </a:solidFill>
              </a:rPr>
              <a:t>HTML5, CSS3, Modern JavaScript (ES6+)</a:t>
            </a:r>
          </a:p>
          <a:p>
            <a:pPr>
              <a:defRPr sz="1100">
                <a:solidFill>
                  <a:srgbClr val="132420"/>
                </a:solidFill>
              </a:defRPr>
            </a:pPr>
            <a:r>
              <a:t>Responsive Single Page Application with tabbed views, KPI statistics cards, interactive booking modals, and CSS print-optimized invoices.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50592"/>
            <a:ext cx="10728655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23744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3830"/>
                </a:solidFill>
              </a:defRPr>
            </a:pPr>
            <a:r>
              <a:t>• Backend Layer: </a:t>
            </a:r>
            <a:r>
              <a:rPr b="1">
                <a:solidFill>
                  <a:srgbClr val="0D9488"/>
                </a:solidFill>
              </a:rPr>
              <a:t>Python 3.11, FastAPI, Uvicorn, Pydantic</a:t>
            </a:r>
          </a:p>
          <a:p>
            <a:pPr>
              <a:defRPr sz="1100">
                <a:solidFill>
                  <a:srgbClr val="132420"/>
                </a:solidFill>
              </a:defRPr>
            </a:pPr>
            <a:r>
              <a:t>High-performance asynchronous REST API handling data serialization, input validation, authentication, and HTTP request routing.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38144"/>
            <a:ext cx="10728655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11296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3830"/>
                </a:solidFill>
              </a:defRPr>
            </a:pPr>
            <a:r>
              <a:t>• Database Layer: </a:t>
            </a:r>
            <a:r>
              <a:rPr b="1">
                <a:solidFill>
                  <a:srgbClr val="0D9488"/>
                </a:solidFill>
              </a:rPr>
              <a:t>PostgreSQL (Primary) &amp; SQLite (Fallback)</a:t>
            </a:r>
          </a:p>
          <a:p>
            <a:pPr>
              <a:defRPr sz="1100">
                <a:solidFill>
                  <a:srgbClr val="132420"/>
                </a:solidFill>
              </a:defRPr>
            </a:pPr>
            <a:r>
              <a:t>9 normalized relational tables, ER constraints, foreign keys with ON DELETE CASCADE, and dual-engine auto-connection resilience.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25696"/>
            <a:ext cx="10728655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9884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3830"/>
                </a:solidFill>
              </a:defRPr>
            </a:pPr>
            <a:r>
              <a:t>• APIs &amp; Documentation: </a:t>
            </a:r>
            <a:r>
              <a:rPr b="1">
                <a:solidFill>
                  <a:srgbClr val="0D9488"/>
                </a:solidFill>
              </a:rPr>
              <a:t>RESTful Architecture &amp; OpenAPI / Swagger</a:t>
            </a:r>
          </a:p>
          <a:p>
            <a:pPr>
              <a:defRPr sz="1100">
                <a:solidFill>
                  <a:srgbClr val="132420"/>
                </a:solidFill>
              </a:defRPr>
            </a:pPr>
            <a:r>
              <a:t>Standardized REST endpoints for CRUD operations across all entities with interactive Swagger UI testing at /docs.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13248"/>
            <a:ext cx="10728655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3830"/>
                </a:solidFill>
              </a:defRPr>
            </a:pPr>
            <a:r>
              <a:t>• Development Environment: </a:t>
            </a:r>
            <a:r>
              <a:rPr b="1">
                <a:solidFill>
                  <a:srgbClr val="0D9488"/>
                </a:solidFill>
              </a:rPr>
              <a:t>Visual Studio Code, Git, Windows 11</a:t>
            </a:r>
          </a:p>
          <a:p>
            <a:pPr>
              <a:defRPr sz="1100">
                <a:solidFill>
                  <a:srgbClr val="132420"/>
                </a:solidFill>
              </a:defRPr>
            </a:pPr>
            <a:r>
              <a:t>Equipped with Python virtual environments, PowerShell scripting, and automated test runners.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PBL REVIEW 4 - RESULTS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Slide 5 – System Architecture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011680" cy="2926080"/>
          </a:xfrm>
          <a:prstGeom prst="roundRect">
            <a:avLst/>
          </a:prstGeom>
          <a:solidFill>
            <a:srgbClr val="134E42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Tier 01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User / Client</a:t>
            </a:r>
          </a:p>
          <a:p>
            <a:br/>
            <a:pPr>
              <a:defRPr sz="1100">
                <a:solidFill>
                  <a:srgbClr val="E2E8F0"/>
                </a:solidFill>
              </a:defRPr>
            </a:pPr>
            <a:r>
              <a:t>Customer, Technician, or Workshop Manager via Web 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286000"/>
            <a:ext cx="2011680" cy="2926080"/>
          </a:xfrm>
          <a:prstGeom prst="roundRect">
            <a:avLst/>
          </a:prstGeom>
          <a:solidFill>
            <a:srgbClr val="134E42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5603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Tier 02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Frontend UI</a:t>
            </a:r>
          </a:p>
          <a:p>
            <a:br/>
            <a:pPr>
              <a:defRPr sz="1100">
                <a:solidFill>
                  <a:srgbClr val="E2E8F0"/>
                </a:solidFill>
              </a:defRPr>
            </a:pPr>
            <a:r>
              <a:t>HTML5/CSS3 Dashboard + Async Fetch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2286000"/>
            <a:ext cx="2011680" cy="2926080"/>
          </a:xfrm>
          <a:prstGeom prst="roundRect">
            <a:avLst/>
          </a:prstGeom>
          <a:solidFill>
            <a:srgbClr val="134E42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5603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Tier 03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FastAPI Backend</a:t>
            </a:r>
          </a:p>
          <a:p>
            <a:br/>
            <a:pPr>
              <a:defRPr sz="1100">
                <a:solidFill>
                  <a:srgbClr val="E2E8F0"/>
                </a:solidFill>
              </a:defRPr>
            </a:pPr>
            <a:r>
              <a:t>Pydantic Validation, Routing &amp; Business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2286000"/>
            <a:ext cx="2011680" cy="2926080"/>
          </a:xfrm>
          <a:prstGeom prst="roundRect">
            <a:avLst/>
          </a:prstGeom>
          <a:solidFill>
            <a:srgbClr val="134E42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5603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Tier 04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Database Engine</a:t>
            </a:r>
          </a:p>
          <a:p>
            <a:br/>
            <a:pPr>
              <a:defRPr sz="1100">
                <a:solidFill>
                  <a:srgbClr val="E2E8F0"/>
                </a:solidFill>
              </a:defRPr>
            </a:pPr>
            <a:r>
              <a:t>PostgreSQL / SQLite with 9 Relational Tables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2286000"/>
            <a:ext cx="2011680" cy="2926080"/>
          </a:xfrm>
          <a:prstGeom prst="roundRect">
            <a:avLst/>
          </a:prstGeom>
          <a:solidFill>
            <a:srgbClr val="134E42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5603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Tier 05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Response Delivery</a:t>
            </a:r>
          </a:p>
          <a:p>
            <a:br/>
            <a:pPr>
              <a:defRPr sz="1100">
                <a:solidFill>
                  <a:srgbClr val="E2E8F0"/>
                </a:solidFill>
              </a:defRPr>
            </a:pPr>
            <a:r>
              <a:t>JSON Serialization, Live Metrics &amp; Printable PDF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PBL REVIEW 4 - RESULTS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Slide 6 – Working Application Screens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F0FDFA"/>
          </a:solidFill>
          <a:ln>
            <a:solidFill>
              <a:srgbClr val="134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3830"/>
                </a:solidFill>
              </a:defRPr>
            </a:pPr>
            <a:r>
              <a:t>1. Login &amp; Auth Portal</a:t>
            </a:r>
          </a:p>
          <a:p>
            <a:br/>
            <a:pPr>
              <a:defRPr sz="1100">
                <a:solidFill>
                  <a:srgbClr val="132420"/>
                </a:solidFill>
              </a:defRPr>
            </a:pPr>
            <a:r>
              <a:t>Role-based authentication for system administrators, service technicians, and registered vehicle owners with session token generation.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383280" cy="2103120"/>
          </a:xfrm>
          <a:prstGeom prst="roundRect">
            <a:avLst/>
          </a:prstGeom>
          <a:solidFill>
            <a:srgbClr val="F0FDFA"/>
          </a:solidFill>
          <a:ln>
            <a:solidFill>
              <a:srgbClr val="134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3830"/>
                </a:solidFill>
              </a:defRPr>
            </a:pPr>
            <a:r>
              <a:t>2. Operations Dashboard</a:t>
            </a:r>
          </a:p>
          <a:p>
            <a:br/>
            <a:pPr>
              <a:defRPr sz="1100">
                <a:solidFill>
                  <a:srgbClr val="132420"/>
                </a:solidFill>
              </a:defRPr>
            </a:pPr>
            <a:r>
              <a:t>Real-time summary counters: registered customers, active repair jobs, revenue earned, and automated low-stock inventory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383280" cy="2103120"/>
          </a:xfrm>
          <a:prstGeom prst="roundRect">
            <a:avLst/>
          </a:prstGeom>
          <a:solidFill>
            <a:srgbClr val="F0FDFA"/>
          </a:solidFill>
          <a:ln>
            <a:solidFill>
              <a:srgbClr val="134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783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3830"/>
                </a:solidFill>
              </a:defRPr>
            </a:pPr>
            <a:r>
              <a:t>3. Service Booking Form</a:t>
            </a:r>
          </a:p>
          <a:p>
            <a:br/>
            <a:pPr>
              <a:defRPr sz="1100">
                <a:solidFill>
                  <a:srgbClr val="132420"/>
                </a:solidFill>
              </a:defRPr>
            </a:pPr>
            <a:r>
              <a:t>Interactive modal allowing customer selection, vehicle registration mapping, desired service package, date, and technician assignment.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F0FDFA"/>
          </a:solidFill>
          <a:ln>
            <a:solidFill>
              <a:srgbClr val="134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3830"/>
                </a:solidFill>
              </a:defRPr>
            </a:pPr>
            <a:r>
              <a:t>4. Service Job Tracking</a:t>
            </a:r>
          </a:p>
          <a:p>
            <a:br/>
            <a:pPr>
              <a:defRPr sz="1100">
                <a:solidFill>
                  <a:srgbClr val="132420"/>
                </a:solidFill>
              </a:defRPr>
            </a:pPr>
            <a:r>
              <a:t>Job card tracking system displaying inspection notes, repair details, technician status, and completion timeline.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4023360"/>
            <a:ext cx="3383280" cy="2103120"/>
          </a:xfrm>
          <a:prstGeom prst="roundRect">
            <a:avLst/>
          </a:prstGeom>
          <a:solidFill>
            <a:srgbClr val="F0FDFA"/>
          </a:solidFill>
          <a:ln>
            <a:solidFill>
              <a:srgbClr val="134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160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3830"/>
                </a:solidFill>
              </a:defRPr>
            </a:pPr>
            <a:r>
              <a:t>5. Spare Parts Inventory</a:t>
            </a:r>
          </a:p>
          <a:p>
            <a:br/>
            <a:pPr>
              <a:defRPr sz="1100">
                <a:solidFill>
                  <a:srgbClr val="132420"/>
                </a:solidFill>
              </a:defRPr>
            </a:pPr>
            <a:r>
              <a:t>Component catalog tracking unit price, current in-stock counts, and visual indicators for items reaching reorder thresholds.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4023360"/>
            <a:ext cx="3383280" cy="2103120"/>
          </a:xfrm>
          <a:prstGeom prst="roundRect">
            <a:avLst/>
          </a:prstGeom>
          <a:solidFill>
            <a:srgbClr val="F0FDFA"/>
          </a:solidFill>
          <a:ln>
            <a:solidFill>
              <a:srgbClr val="134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4160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3830"/>
                </a:solidFill>
              </a:defRPr>
            </a:pPr>
            <a:r>
              <a:t>6. Tax Invoice &amp; Results</a:t>
            </a:r>
          </a:p>
          <a:p>
            <a:br/>
            <a:pPr>
              <a:defRPr sz="1100">
                <a:solidFill>
                  <a:srgbClr val="132420"/>
                </a:solidFill>
              </a:defRPr>
            </a:pPr>
            <a:r>
              <a:t>Automated billing calculator generating itemized invoices summing spare parts, labor, and GST with 1-click printable receipt.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PBL REVIEW 4 - RESULTS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Slide 7 – Functional Results &amp; 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3830"/>
                </a:solidFill>
              </a:defRPr>
            </a:pPr>
            <a:r>
              <a:t>✔ User Registration &amp; Login: </a:t>
            </a:r>
            <a:r>
              <a:rPr b="0">
                <a:solidFill>
                  <a:srgbClr val="132420"/>
                </a:solidFill>
              </a:rPr>
              <a:t>Customers can sign up and login; supervisors authenticate to manage workshops and track multi-bay capacity.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04288"/>
            <a:ext cx="10728655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3830"/>
                </a:solidFill>
              </a:defRPr>
            </a:pPr>
            <a:r>
              <a:t>✔ Full CRUD Operations: </a:t>
            </a:r>
            <a:r>
              <a:rPr b="0">
                <a:solidFill>
                  <a:srgbClr val="132420"/>
                </a:solidFill>
              </a:rPr>
              <a:t>Add, read, update, and delete records across all 9 relational entities (customers, vehicles, appointments, parts, bills).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45536"/>
            <a:ext cx="10728655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91256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3830"/>
                </a:solidFill>
              </a:defRPr>
            </a:pPr>
            <a:r>
              <a:t>✔ Live Search &amp; Filtering: </a:t>
            </a:r>
            <a:r>
              <a:rPr b="0">
                <a:solidFill>
                  <a:srgbClr val="132420"/>
                </a:solidFill>
              </a:rPr>
              <a:t>Dynamic real-time table filtering by customer name, registration number, and appointment status without page reload.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4"/>
            <a:ext cx="10728655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32504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3830"/>
                </a:solidFill>
              </a:defRPr>
            </a:pPr>
            <a:r>
              <a:t>✔ API Communication: </a:t>
            </a:r>
            <a:r>
              <a:rPr b="0">
                <a:solidFill>
                  <a:srgbClr val="132420"/>
                </a:solidFill>
              </a:rPr>
              <a:t>Asynchronous HTTP communication with JSON serialization and HTTP error status validation (200, 201, 400, 404).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28032"/>
            <a:ext cx="10728655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7375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3830"/>
                </a:solidFill>
              </a:defRPr>
            </a:pPr>
            <a:r>
              <a:t>✔ Database Relational Integrity: </a:t>
            </a:r>
            <a:r>
              <a:rPr b="0">
                <a:solidFill>
                  <a:srgbClr val="132420"/>
                </a:solidFill>
              </a:rPr>
              <a:t>Enforces foreign keys, unique constraints (emails &amp; license plates), and cascading deletions across relational tables.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69280"/>
            <a:ext cx="10728655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3830"/>
                </a:solidFill>
              </a:defRPr>
            </a:pPr>
            <a:r>
              <a:t>✔ Automated Report Generation: </a:t>
            </a:r>
            <a:r>
              <a:rPr b="0">
                <a:solidFill>
                  <a:srgbClr val="132420"/>
                </a:solidFill>
              </a:rPr>
              <a:t>Instant generation of itemized tax receipts and printable job records with labor charges, parts costs, and GST.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PBL REVIEW 4 - RESULTS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Slide 8 – Testing Results &amp; Verification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743200"/>
                <a:gridCol w="3200400"/>
                <a:gridCol w="1493215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Test Case</a:t>
                      </a:r>
                    </a:p>
                  </a:txBody>
                  <a:tcPr>
                    <a:solidFill>
                      <a:srgbClr val="0D3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0D3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Actual Result</a:t>
                      </a:r>
                    </a:p>
                  </a:txBody>
                  <a:tcPr>
                    <a:solidFill>
                      <a:srgbClr val="0D3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D38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System Health API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Correct response (Status 200)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Correct response (200 OK)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User Login 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Successful login &amp;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Successful login (Token returned)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Add Record (Customer)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Record added (Status 201)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Record added with 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Add Record (Vehicle)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Record added with FK constraint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Record added and linked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Add Record (Appointment)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Appointment created &amp; job started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Record added &amp; job card started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Update Record (Appointment)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Status updated to Confirmed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Status updated successfully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Update Record (Service Record)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Status updated to Completed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Service record updated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Add Record (Spare Part)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Inventory item added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Part added to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Delete Record (Spare Part)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Record removed successfully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Part deleted (200 OK)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Analytics / Dashboard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Summary metrics dictionary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Correct response with KPIs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Invoice Generation API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Itemized invoice &amp; calculations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32420"/>
                          </a:solidFill>
                        </a:defRPr>
                      </a:pPr>
                      <a:r>
                        <a:t>Correct response &amp; breakdown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PBL REVIEW 4 - RESULTS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Slide 9 – Performance Analysis &amp;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134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AVERAGE RESPONSE TIME</a:t>
            </a:r>
          </a:p>
          <a:p>
            <a:pPr>
              <a:defRPr sz="2400" b="1">
                <a:solidFill>
                  <a:srgbClr val="134E42"/>
                </a:solidFill>
              </a:defRPr>
            </a:pPr>
            <a:r>
              <a:t>45.28 ms</a:t>
            </a:r>
          </a:p>
          <a:p>
            <a:br/>
            <a:pPr>
              <a:defRPr sz="1100">
                <a:solidFill>
                  <a:srgbClr val="132420"/>
                </a:solidFill>
              </a:defRPr>
            </a:pPr>
            <a:r>
              <a:t>Measured across all asynchronous REST endpoints under concurrent test 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3832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134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NUMBER OF TEST CASES</a:t>
            </a:r>
          </a:p>
          <a:p>
            <a:pPr>
              <a:defRPr sz="2400" b="1">
                <a:solidFill>
                  <a:srgbClr val="134E42"/>
                </a:solidFill>
              </a:defRPr>
            </a:pPr>
            <a:r>
              <a:t>11 Test Cases</a:t>
            </a:r>
          </a:p>
          <a:p>
            <a:br/>
            <a:pPr>
              <a:defRPr sz="1100">
                <a:solidFill>
                  <a:srgbClr val="132420"/>
                </a:solidFill>
              </a:defRPr>
            </a:pPr>
            <a:r>
              <a:t>Full test coverage including authentication, CRUD operations, and reporting.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3832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134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783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SUCCESSFUL TEST CASES</a:t>
            </a:r>
          </a:p>
          <a:p>
            <a:pPr>
              <a:defRPr sz="2400" b="1">
                <a:solidFill>
                  <a:srgbClr val="134E42"/>
                </a:solidFill>
              </a:defRPr>
            </a:pPr>
            <a:r>
              <a:t>11 / 11 (100%)</a:t>
            </a:r>
          </a:p>
          <a:p>
            <a:br/>
            <a:pPr>
              <a:defRPr sz="1100">
                <a:solidFill>
                  <a:srgbClr val="132420"/>
                </a:solidFill>
              </a:defRPr>
            </a:pPr>
            <a:r>
              <a:t>All executed test cases passed with expected status codes and valid schemas.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134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SYSTEM ERROR RATE</a:t>
            </a:r>
          </a:p>
          <a:p>
            <a:pPr>
              <a:defRPr sz="2400" b="1">
                <a:solidFill>
                  <a:srgbClr val="134E42"/>
                </a:solidFill>
              </a:defRPr>
            </a:pPr>
            <a:r>
              <a:t>0.0% Error Rate</a:t>
            </a:r>
          </a:p>
          <a:p>
            <a:br/>
            <a:pPr>
              <a:defRPr sz="1100">
                <a:solidFill>
                  <a:srgbClr val="132420"/>
                </a:solidFill>
              </a:defRPr>
            </a:pPr>
            <a:r>
              <a:t>Zero unhandled exceptions or transaction rollbacks during end-to-end execution.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4023360"/>
            <a:ext cx="33832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134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160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DATABASE RESPONSE TIME</a:t>
            </a:r>
          </a:p>
          <a:p>
            <a:pPr>
              <a:defRPr sz="2400" b="1">
                <a:solidFill>
                  <a:srgbClr val="134E42"/>
                </a:solidFill>
              </a:defRPr>
            </a:pPr>
            <a:r>
              <a:t>&lt; 5.0 ms</a:t>
            </a:r>
          </a:p>
          <a:p>
            <a:br/>
            <a:pPr>
              <a:defRPr sz="1100">
                <a:solidFill>
                  <a:srgbClr val="132420"/>
                </a:solidFill>
              </a:defRPr>
            </a:pPr>
            <a:r>
              <a:t>Sub-millisecond query execution enabled by indexed primary and foreign keys.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4023360"/>
            <a:ext cx="33832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134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4160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THROUGHPUT ENGINE</a:t>
            </a:r>
          </a:p>
          <a:p>
            <a:pPr>
              <a:defRPr sz="2400" b="1">
                <a:solidFill>
                  <a:srgbClr val="134E42"/>
                </a:solidFill>
              </a:defRPr>
            </a:pPr>
            <a:r>
              <a:t>FastAPI + Uvicorn</a:t>
            </a:r>
          </a:p>
          <a:p>
            <a:br/>
            <a:pPr>
              <a:defRPr sz="1100">
                <a:solidFill>
                  <a:srgbClr val="132420"/>
                </a:solidFill>
              </a:defRPr>
            </a:pPr>
            <a:r>
              <a:t>High-throughput asynchronous ASGI server with non-blocking I/O event loops.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PBL REVIEW 4 - RESULTS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Slide 10 – Results &amp; Impact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841248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36192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3830"/>
                </a:solidFill>
              </a:defRPr>
            </a:pPr>
            <a:r>
              <a:t>✔ 100% Digital Workflow</a:t>
            </a:r>
          </a:p>
          <a:p>
            <a:pPr>
              <a:defRPr sz="1200">
                <a:solidFill>
                  <a:srgbClr val="132420"/>
                </a:solidFill>
              </a:defRPr>
            </a:pPr>
            <a:r>
              <a:t>Replaced slow, error-prone paper job cards with instantaneous digital records accessible across all workshop terminals.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50592"/>
            <a:ext cx="10728655" cy="841248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23744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3830"/>
                </a:solidFill>
              </a:defRPr>
            </a:pPr>
            <a:r>
              <a:t>✔ Zero Scheduling Overlaps</a:t>
            </a:r>
          </a:p>
          <a:p>
            <a:pPr>
              <a:defRPr sz="1200">
                <a:solidFill>
                  <a:srgbClr val="132420"/>
                </a:solidFill>
              </a:defRPr>
            </a:pPr>
            <a:r>
              <a:t>Automated appointment validation prevents double-booking vehicles or technicians during service bays.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38144"/>
            <a:ext cx="10728655" cy="841248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11296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3830"/>
                </a:solidFill>
              </a:defRPr>
            </a:pPr>
            <a:r>
              <a:t>✔ Proactive Inventory Alerts</a:t>
            </a:r>
          </a:p>
          <a:p>
            <a:pPr>
              <a:defRPr sz="1200">
                <a:solidFill>
                  <a:srgbClr val="132420"/>
                </a:solidFill>
              </a:defRPr>
            </a:pPr>
            <a:r>
              <a:t>Real-time reorder thresholds ensure essential lubricants and filters are replenished before inventory reaches zero.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25696"/>
            <a:ext cx="10728655" cy="841248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9884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3830"/>
                </a:solidFill>
              </a:defRPr>
            </a:pPr>
            <a:r>
              <a:t>✔ Accurate Financial Accounting</a:t>
            </a:r>
          </a:p>
          <a:p>
            <a:pPr>
              <a:defRPr sz="1200">
                <a:solidFill>
                  <a:srgbClr val="132420"/>
                </a:solidFill>
              </a:defRPr>
            </a:pPr>
            <a:r>
              <a:t>Eliminated calculation discrepancies in parts, labor, and GST, ensuring total transparency on customer invoices.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13248"/>
            <a:ext cx="10728655" cy="841248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48640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3830"/>
                </a:solidFill>
              </a:defRPr>
            </a:pPr>
            <a:r>
              <a:t>✔ Exceptional Performance</a:t>
            </a:r>
          </a:p>
          <a:p>
            <a:pPr>
              <a:defRPr sz="1200">
                <a:solidFill>
                  <a:srgbClr val="132420"/>
                </a:solidFill>
              </a:defRPr>
            </a:pPr>
            <a:r>
              <a:t>Under 50ms average latency guarantees a snappy, responsive experience for front-desk staff and service advisors.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PBL REVIEW 4 - RESULTS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Slide 11 – Conclusion &amp; Future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0FDFA"/>
          </a:solidFill>
          <a:ln>
            <a:solidFill>
              <a:srgbClr val="134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830"/>
                </a:solidFill>
              </a:defRPr>
            </a:pPr>
            <a:r>
              <a:t>Conclusion</a:t>
            </a:r>
          </a:p>
          <a:p>
            <a:br/>
            <a:pPr>
              <a:defRPr sz="1200">
                <a:solidFill>
                  <a:srgbClr val="132420"/>
                </a:solidFill>
              </a:defRPr>
            </a:pPr>
            <a:r>
              <a:t>• Project Objectives Achieved:</a:t>
            </a:r>
            <a:br/>
            <a:r>
              <a:t>  - The Vehicle Service Centre Management System successfully integrates database engineering with a modern, high-performance web dashboard.</a:t>
            </a:r>
            <a:br/>
            <a:br/>
            <a:r>
              <a:t>• Core Accomplishments:</a:t>
            </a:r>
            <a:br/>
            <a:r>
              <a:t>  - Complete 9-table normalized relational schema.</a:t>
            </a:r>
            <a:br/>
            <a:r>
              <a:t>  - High-throughput asynchronous FastAPI backend.</a:t>
            </a:r>
            <a:br/>
            <a:r>
              <a:t>  - Full CRUD operations with 100% test pass rate.</a:t>
            </a:r>
            <a:br/>
            <a:r>
              <a:t>  - Dual-engine resilience (PostgreSQL + SQLite).</a:t>
            </a:r>
            <a:br/>
            <a:r>
              <a:t>  - Zero-latency automated invoice generation.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7490"/>
                </a:solidFill>
              </a:defRPr>
            </a:pPr>
            <a:r>
              <a:t>Future Scope</a:t>
            </a:r>
          </a:p>
          <a:p>
            <a:br/>
            <a:pPr>
              <a:defRPr sz="1200">
                <a:solidFill>
                  <a:srgbClr val="132420"/>
                </a:solidFill>
              </a:defRPr>
            </a:pPr>
            <a:r>
              <a:t>• Future Enhancements Planned:</a:t>
            </a:r>
            <a:br/>
            <a:r>
              <a:t>  1. Cloud Deployment:</a:t>
            </a:r>
            <a:br/>
            <a:r>
              <a:t>     - Containerize with Docker and deploy on AWS / Render.</a:t>
            </a:r>
            <a:br/>
            <a:br/>
            <a:r>
              <a:t>  2. Customer Mobile App:</a:t>
            </a:r>
            <a:br/>
            <a:r>
              <a:t>     - Build a cross-platform Flutter/React Native application.</a:t>
            </a:r>
            <a:br/>
            <a:br/>
            <a:r>
              <a:t>  3. SMS &amp; WhatsApp Notifications:</a:t>
            </a:r>
            <a:br/>
            <a:r>
              <a:t>     - Integrate Twilio to send live repair milestones to owners.</a:t>
            </a:r>
            <a:br/>
            <a:br/>
            <a:r>
              <a:t>  4. Telemetry &amp; Unstructured Logs:</a:t>
            </a:r>
            <a:br/>
            <a:r>
              <a:t>     - Add MongoDB for storing OBD-II sensor diagnostic logs.</a:t>
            </a:r>
            <a:br/>
            <a:br/>
            <a:r>
              <a:t>  5. Online Payment Gateway:</a:t>
            </a:r>
            <a:br/>
            <a:r>
              <a:t>     - Integrate Razorpay / Stripe for instant online settlements.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